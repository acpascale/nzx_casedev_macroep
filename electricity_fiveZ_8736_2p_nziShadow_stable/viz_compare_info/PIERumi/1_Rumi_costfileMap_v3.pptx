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D941B-3F9C-A131-142F-270A9FF46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340DE-8650-B18D-44D6-B17DBB3CD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E6E36-650F-2497-7B8F-F47D3672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64252-481D-108D-299A-741A7A5F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1315F-0A1F-DDF5-6A6B-2F3E7B7E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53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8A2C-630C-1947-7A46-2B1CB028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D458-F518-02AF-A97F-93D4FCFD9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3DFF6-0427-BA66-B07B-3E79ADBA5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AEA28-B3A6-F281-37EF-4F04AE4C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12B45-71FA-6B84-83CE-AF342F4F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24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4781-9B52-59C2-0E22-E72FA2E8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26762-FDE9-E1F4-DDE0-5816A2466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0653-9DA3-A91D-0FAA-BCC2EC36C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14B1-6925-D850-1788-39E6E1CF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C8F07-CC04-0D06-EE83-D5214EDF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8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AE23-9490-BB94-2B69-9F98ECE5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D8DAF-58D2-0429-398C-D53C29F54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BE4B6-BA93-BD30-8ABA-D853B491F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F1995-45D3-5248-704C-352B1DD1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2C9DD-3D62-A9AF-8CA5-2BCDDCF7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82F56-0EA8-73E4-2429-425BD345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4755-6EE0-33CC-52D9-D9780E59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6717-AD37-C481-E73D-384518E8D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D470C-A5DC-BC83-CFF4-AC27047BF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766D4-0387-0A5B-5B33-C104B7FEF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B020EF-E20C-A92D-5543-064873346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09EE9-FEEA-0199-E721-C9349686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0DBC1-DAE8-15A9-F6FB-0BCDD9D7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1D236-84E2-07EC-3E2D-783425A3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10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C1F7-ECA1-A25A-22C5-C282465D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CF598-4D3D-8A0F-A235-AF813BEA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440A9-6C1C-6854-A00E-2DA2E3F0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DCAD4-221E-F006-F3C2-116DA6B6C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19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49EAA-8B03-08B5-066F-A75DD7D85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72EF0-05AC-94E4-A376-64AD994C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7A086-4AA0-68A8-8B49-ECD7FBB6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33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02C0-BEE1-76DF-77B9-BEF2D586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08917-8F83-44D8-FB3D-1C419C0C8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45717-58BA-B022-7E9B-BE9607684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273B9-DC16-F636-33DE-AF64A204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CE519-E488-84EF-8F04-213E248E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7FE11-08DD-D671-78BB-B5C29E7A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01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098A-FA35-09A4-D79A-BCC46E82A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C151C-664C-8016-FAF5-BAF460337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6D16F-56BB-E495-47E5-BB1B5D3F9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A0BC-7361-C338-9E76-0284AE86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F2F2A-8982-4B5A-17BB-54E548E0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01BDD-E78B-A786-8212-6CEAC86F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8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AD1F-81A4-AFFA-457B-E068A48B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5113E-53D0-8FD4-5CF8-9AB2A3605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E2B94-395E-DF97-9095-1C608CABA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E308D-D2C1-855E-F112-C3637E77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3A9A9-03F5-FEA5-9AA0-F439F517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3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4C4C3-63BC-F224-F55C-CC3A62EB1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BB6B8-E066-8E98-BC23-3D06F78B3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2DE82-7CAD-7EB4-CEF6-D347C85B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D4968-E188-38C2-1887-B692F518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8272-3292-EA40-41B7-E8CA3C55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63F65-0626-6B3B-ABF5-A5FC902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C6833-FEE4-7E53-822F-1B8F45A11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A56D-1D00-945E-88F9-5C1D75027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A339F-33E8-4170-B642-AFD9F364A51A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98CB0-4F90-00E1-6F78-50E3D0D77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53AD9-39BD-CE89-0037-7330929A0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3E88A-EAC8-40C1-AA4B-7A16B047E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80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DA7461E-F2AF-AA88-B40E-168001A10303}"/>
                  </a:ext>
                </a:extLst>
              </p:cNvPr>
              <p:cNvSpPr/>
              <p:nvPr/>
            </p:nvSpPr>
            <p:spPr>
              <a:xfrm>
                <a:off x="152400" y="104776"/>
                <a:ext cx="11887200" cy="69531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Total Model cost </a:t>
                </a:r>
                <a:r>
                  <a:rPr lang="en-US" sz="16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IN" sz="1600" b="1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 b="1" i="1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  <m:sup/>
                      <m:e>
                        <m:r>
                          <a:rPr lang="en-IN" sz="1600" b="1" i="1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𝑨𝒏𝒏𝒖𝒂𝒍𝑪𝒐𝒔𝒕</m:t>
                        </m:r>
                        <m:r>
                          <a:rPr lang="en-IN" sz="1600" b="1" i="1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1600" b="1" i="1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IN" sz="1600" b="1" i="1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IN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IN" sz="1600" dirty="0"/>
                  <a:t>for all years y in the model</a:t>
                </a:r>
              </a:p>
              <a:p>
                <a:pPr algn="ctr"/>
                <a:r>
                  <a:rPr lang="en-IN" sz="1600" b="1" dirty="0" err="1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AnnualCost</a:t>
                </a:r>
                <a:r>
                  <a:rPr lang="en-IN" sz="16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(y) </a:t>
                </a:r>
                <a:r>
                  <a:rPr lang="en-IN" sz="1600" dirty="0"/>
                  <a:t>= </a:t>
                </a:r>
                <a:r>
                  <a:rPr lang="en-IN" sz="1600" b="1" dirty="0" err="1"/>
                  <a:t>AnnualCarrierCost</a:t>
                </a:r>
                <a:r>
                  <a:rPr lang="en-IN" sz="1600" b="1" dirty="0"/>
                  <a:t>(y) </a:t>
                </a:r>
                <a:r>
                  <a:rPr lang="en-IN" sz="1600" dirty="0"/>
                  <a:t>+ </a:t>
                </a:r>
                <a:r>
                  <a:rPr lang="en-IN" sz="1600" b="1" dirty="0" err="1"/>
                  <a:t>AnnualECTCost</a:t>
                </a:r>
                <a:r>
                  <a:rPr lang="en-IN" sz="1600" b="1" dirty="0"/>
                  <a:t>(y) </a:t>
                </a:r>
                <a:r>
                  <a:rPr lang="en-IN" sz="1600" dirty="0"/>
                  <a:t>+ </a:t>
                </a:r>
                <a:r>
                  <a:rPr lang="en-IN" sz="1600" b="1" dirty="0" err="1"/>
                  <a:t>AnnualStorageCost</a:t>
                </a:r>
                <a:r>
                  <a:rPr lang="en-IN" sz="1600" b="1" dirty="0"/>
                  <a:t>(y)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DA7461E-F2AF-AA88-B40E-168001A103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4776"/>
                <a:ext cx="11887200" cy="695316"/>
              </a:xfrm>
              <a:prstGeom prst="rect">
                <a:avLst/>
              </a:prstGeom>
              <a:blipFill>
                <a:blip r:embed="rId2"/>
                <a:stretch>
                  <a:fillRect t="-43590" b="-36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5E92C8C-19A9-75F8-394A-326062C7F105}"/>
              </a:ext>
            </a:extLst>
          </p:cNvPr>
          <p:cNvSpPr/>
          <p:nvPr/>
        </p:nvSpPr>
        <p:spPr>
          <a:xfrm>
            <a:off x="4210052" y="942972"/>
            <a:ext cx="3783600" cy="1428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AnnualECTCost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/>
              <a:t>= </a:t>
            </a:r>
            <a:r>
              <a:rPr lang="en-IN" sz="1600" b="1" dirty="0" err="1"/>
              <a:t>Σ</a:t>
            </a:r>
            <a:r>
              <a:rPr lang="en-IN" sz="1600" b="1" baseline="-25000" dirty="0" err="1"/>
              <a:t>ect</a:t>
            </a:r>
            <a:r>
              <a:rPr lang="en-IN" sz="1600" b="1" dirty="0"/>
              <a:t> </a:t>
            </a:r>
            <a:r>
              <a:rPr lang="en-IN" sz="1600" b="1" dirty="0" err="1"/>
              <a:t>ECTFixedCost</a:t>
            </a:r>
            <a:r>
              <a:rPr lang="en-IN" sz="1600" b="1" dirty="0"/>
              <a:t> (</a:t>
            </a:r>
            <a:r>
              <a:rPr lang="en-IN" sz="1600" b="1" dirty="0" err="1"/>
              <a:t>ect</a:t>
            </a:r>
            <a:r>
              <a:rPr lang="en-IN" sz="1600" b="1" dirty="0"/>
              <a:t>, y) </a:t>
            </a:r>
            <a:r>
              <a:rPr lang="en-IN" sz="1600" dirty="0"/>
              <a:t>for all energy conversion technologies </a:t>
            </a:r>
            <a:r>
              <a:rPr lang="en-IN" sz="1600" dirty="0" err="1"/>
              <a:t>ect</a:t>
            </a:r>
            <a:r>
              <a:rPr lang="en-IN" sz="1600" dirty="0"/>
              <a:t>. </a:t>
            </a:r>
            <a:r>
              <a:rPr lang="en-IN" sz="1600" i="1" dirty="0"/>
              <a:t>Fixed cost incurred for all installations of technology </a:t>
            </a:r>
            <a:r>
              <a:rPr lang="en-IN" sz="1600" i="1" dirty="0" err="1"/>
              <a:t>ect</a:t>
            </a:r>
            <a:r>
              <a:rPr lang="en-IN" sz="1600" i="1" dirty="0"/>
              <a:t> existing in y [annualized payment over asset life]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E1082-6EB7-CF01-2EE8-2AC9B14FF44A}"/>
              </a:ext>
            </a:extLst>
          </p:cNvPr>
          <p:cNvSpPr/>
          <p:nvPr/>
        </p:nvSpPr>
        <p:spPr>
          <a:xfrm>
            <a:off x="152400" y="942973"/>
            <a:ext cx="3971925" cy="1428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AnnualCarrierCost</a:t>
            </a:r>
            <a:r>
              <a:rPr lang="en-US" sz="1600" dirty="0"/>
              <a:t> =</a:t>
            </a:r>
          </a:p>
          <a:p>
            <a:pPr algn="ctr"/>
            <a:r>
              <a:rPr lang="en-IN" sz="1600" b="1" dirty="0"/>
              <a:t> </a:t>
            </a:r>
            <a:r>
              <a:rPr lang="en-IN" sz="1600" b="1" dirty="0" err="1"/>
              <a:t>Σ</a:t>
            </a:r>
            <a:r>
              <a:rPr lang="en-IN" sz="1600" b="1" baseline="-25000" dirty="0" err="1"/>
              <a:t>ec</a:t>
            </a:r>
            <a:r>
              <a:rPr lang="en-IN" sz="1600" b="1" dirty="0"/>
              <a:t> </a:t>
            </a:r>
            <a:r>
              <a:rPr lang="en-IN" sz="1600" b="1" dirty="0" err="1"/>
              <a:t>CostOfCarrier</a:t>
            </a:r>
            <a:r>
              <a:rPr lang="en-IN" sz="1600" b="1" dirty="0"/>
              <a:t> (</a:t>
            </a:r>
            <a:r>
              <a:rPr lang="en-IN" sz="1600" b="1" dirty="0" err="1"/>
              <a:t>ec</a:t>
            </a:r>
            <a:r>
              <a:rPr lang="en-IN" sz="1600" b="1" dirty="0"/>
              <a:t>, y) </a:t>
            </a:r>
            <a:r>
              <a:rPr lang="en-IN" sz="1600" dirty="0"/>
              <a:t>for all energy carriers </a:t>
            </a:r>
            <a:r>
              <a:rPr lang="en-IN" sz="1600" dirty="0" err="1"/>
              <a:t>ec.</a:t>
            </a:r>
            <a:r>
              <a:rPr lang="en-IN" sz="1600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4DA27-9038-BBFA-9187-6A3585C73E7E}"/>
              </a:ext>
            </a:extLst>
          </p:cNvPr>
          <p:cNvSpPr/>
          <p:nvPr/>
        </p:nvSpPr>
        <p:spPr>
          <a:xfrm>
            <a:off x="8086722" y="942973"/>
            <a:ext cx="3952878" cy="14287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AnnualStorageCost</a:t>
            </a:r>
            <a:r>
              <a:rPr lang="en-US" sz="1600" dirty="0"/>
              <a:t> = </a:t>
            </a:r>
            <a:r>
              <a:rPr lang="en-IN" sz="1600" dirty="0"/>
              <a:t> </a:t>
            </a:r>
            <a:r>
              <a:rPr lang="en-IN" sz="1600" b="1" dirty="0" err="1"/>
              <a:t>Σ</a:t>
            </a:r>
            <a:r>
              <a:rPr lang="en-IN" sz="1600" b="1" baseline="-25000" dirty="0" err="1"/>
              <a:t>st</a:t>
            </a:r>
            <a:r>
              <a:rPr lang="en-IN" sz="1600" b="1" dirty="0"/>
              <a:t> </a:t>
            </a:r>
            <a:r>
              <a:rPr lang="en-IN" sz="1600" b="1" dirty="0" err="1"/>
              <a:t>CostOfStorage</a:t>
            </a:r>
            <a:r>
              <a:rPr lang="en-IN" sz="1600" b="1" dirty="0"/>
              <a:t> (st, y) </a:t>
            </a:r>
            <a:r>
              <a:rPr lang="en-IN" sz="1600" dirty="0"/>
              <a:t>for all energy storage technologies st. </a:t>
            </a:r>
            <a:r>
              <a:rPr lang="en-IN" sz="1600" i="1" dirty="0"/>
              <a:t>Fixed cost incurred for all installations of storage st existing in y [annualized payment over asset life?]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38272D-E0BB-4BA7-E9A4-39A91383262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138363" y="800092"/>
            <a:ext cx="0" cy="1428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003FC1-12AC-C13F-983A-C1458311202F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6096000" y="800092"/>
            <a:ext cx="5852" cy="1428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D9BE3D-A985-8CFF-9820-5B1C200E234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10063161" y="800092"/>
            <a:ext cx="0" cy="1428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2EAD454-A013-7365-5D4A-88610868C61F}"/>
              </a:ext>
            </a:extLst>
          </p:cNvPr>
          <p:cNvSpPr/>
          <p:nvPr/>
        </p:nvSpPr>
        <p:spPr>
          <a:xfrm>
            <a:off x="152400" y="2524122"/>
            <a:ext cx="11887200" cy="9144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CostOfCarrier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ec,y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 </a:t>
            </a:r>
            <a:r>
              <a:rPr lang="en-IN" sz="1600" dirty="0"/>
              <a:t>= </a:t>
            </a:r>
            <a:r>
              <a:rPr lang="en-IN" sz="1600" b="1" dirty="0" err="1"/>
              <a:t>ECTInputVarCost</a:t>
            </a:r>
            <a:r>
              <a:rPr lang="en-IN" sz="1600" b="1" dirty="0"/>
              <a:t>(</a:t>
            </a:r>
            <a:r>
              <a:rPr lang="en-IN" sz="1600" b="1" dirty="0" err="1"/>
              <a:t>ec,y</a:t>
            </a:r>
            <a:r>
              <a:rPr lang="en-IN" sz="1600" b="1" dirty="0"/>
              <a:t>) </a:t>
            </a:r>
            <a:r>
              <a:rPr lang="en-IN" sz="1600" dirty="0"/>
              <a:t>+ </a:t>
            </a:r>
            <a:r>
              <a:rPr lang="en-IN" sz="1600" b="1" dirty="0" err="1"/>
              <a:t>Σ</a:t>
            </a:r>
            <a:r>
              <a:rPr lang="en-IN" sz="1600" b="1" baseline="-25000" dirty="0" err="1"/>
              <a:t>ba,bt</a:t>
            </a:r>
            <a:r>
              <a:rPr lang="en-IN" sz="1600" b="1" dirty="0"/>
              <a:t> (</a:t>
            </a:r>
            <a:r>
              <a:rPr lang="en-IN" sz="1600" b="1" dirty="0" err="1"/>
              <a:t>TotalECCostInBT_BA</a:t>
            </a:r>
            <a:r>
              <a:rPr lang="en-IN" sz="1600" b="1" dirty="0"/>
              <a:t>(</a:t>
            </a:r>
            <a:r>
              <a:rPr lang="en-IN" sz="1600" b="1" dirty="0" err="1"/>
              <a:t>ec,bt,ba</a:t>
            </a:r>
            <a:r>
              <a:rPr lang="en-IN" sz="1600" b="1" dirty="0"/>
              <a:t>) * </a:t>
            </a:r>
            <a:r>
              <a:rPr lang="en-IN" sz="1600" b="1" dirty="0" err="1"/>
              <a:t>ScaleFactor</a:t>
            </a:r>
            <a:r>
              <a:rPr lang="en-IN" sz="1600" b="1" dirty="0"/>
              <a:t>)</a:t>
            </a:r>
            <a:r>
              <a:rPr lang="en-IN" sz="1600" dirty="0"/>
              <a:t>, </a:t>
            </a:r>
            <a:r>
              <a:rPr lang="en-IN" sz="1600" i="1" dirty="0"/>
              <a:t>where all “balancing areas” </a:t>
            </a:r>
            <a:r>
              <a:rPr lang="en-IN" sz="1600" i="1" dirty="0" err="1"/>
              <a:t>ba</a:t>
            </a:r>
            <a:r>
              <a:rPr lang="en-IN" sz="1600" i="1" dirty="0"/>
              <a:t> and “balancing time units” </a:t>
            </a:r>
            <a:r>
              <a:rPr lang="en-IN" sz="1600" i="1" dirty="0" err="1"/>
              <a:t>bt</a:t>
            </a:r>
            <a:r>
              <a:rPr lang="en-IN" sz="1600" i="1" dirty="0"/>
              <a:t> within y and </a:t>
            </a:r>
            <a:r>
              <a:rPr lang="en-IN" sz="1600" i="1" dirty="0" err="1"/>
              <a:t>ScaleFactor</a:t>
            </a:r>
            <a:r>
              <a:rPr lang="en-IN" sz="1600" i="1" dirty="0"/>
              <a:t> is a constant to scale up the cost when </a:t>
            </a:r>
            <a:r>
              <a:rPr lang="en-IN" sz="1600" i="1" dirty="0" err="1"/>
              <a:t>bt</a:t>
            </a:r>
            <a:r>
              <a:rPr lang="en-IN" sz="1600" i="1" dirty="0"/>
              <a:t> is a “representative” time unit standing for multiple “actual” time units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6C14E7-30F2-5CB1-831E-A85AB8D0D69C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2138363" y="2371725"/>
            <a:ext cx="0" cy="1523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94B4238-86A2-025A-1001-EA98EC139F1B}"/>
              </a:ext>
            </a:extLst>
          </p:cNvPr>
          <p:cNvSpPr/>
          <p:nvPr/>
        </p:nvSpPr>
        <p:spPr>
          <a:xfrm>
            <a:off x="152400" y="3619503"/>
            <a:ext cx="2838450" cy="22669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ECT-</a:t>
            </a:r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InputVarCost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ec,y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 </a:t>
            </a:r>
            <a:r>
              <a:rPr lang="en-IN" sz="1600" dirty="0"/>
              <a:t>= The additional cost (beyond the cost of </a:t>
            </a:r>
            <a:r>
              <a:rPr lang="en-IN" sz="1600" dirty="0" err="1"/>
              <a:t>ec</a:t>
            </a:r>
            <a:r>
              <a:rPr lang="en-IN" sz="1600" dirty="0"/>
              <a:t> itself) of processing/using </a:t>
            </a:r>
            <a:r>
              <a:rPr lang="en-IN" sz="1600" dirty="0" err="1"/>
              <a:t>ec</a:t>
            </a:r>
            <a:r>
              <a:rPr lang="en-IN" sz="1600" dirty="0"/>
              <a:t> as an input to some </a:t>
            </a:r>
            <a:r>
              <a:rPr lang="en-IN" sz="1600" dirty="0" err="1"/>
              <a:t>ect</a:t>
            </a:r>
            <a:r>
              <a:rPr lang="en-IN" sz="1600" dirty="0"/>
              <a:t> in the year y. This accounts for costs such as the cost of storing, sizing and processing coal in a coal-based plant.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259B00E-EB8B-28D7-6B8A-BAC46DE05860}"/>
              </a:ext>
            </a:extLst>
          </p:cNvPr>
          <p:cNvCxnSpPr>
            <a:cxnSpLocks/>
            <a:stCxn id="34" idx="0"/>
          </p:cNvCxnSpPr>
          <p:nvPr/>
        </p:nvCxnSpPr>
        <p:spPr>
          <a:xfrm>
            <a:off x="1571625" y="3619503"/>
            <a:ext cx="441076" cy="152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B66DC11-6A17-3F7C-641B-E03324C5AADC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571625" y="3438531"/>
            <a:ext cx="0" cy="18097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4265E90-94FF-C3E4-2150-125B1565A49F}"/>
              </a:ext>
            </a:extLst>
          </p:cNvPr>
          <p:cNvSpPr/>
          <p:nvPr/>
        </p:nvSpPr>
        <p:spPr>
          <a:xfrm>
            <a:off x="3133725" y="3619502"/>
            <a:ext cx="8905875" cy="819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TotalECCostInBT_BA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ec,bt,ba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 </a:t>
            </a:r>
            <a:r>
              <a:rPr lang="en-IN" sz="1600" dirty="0"/>
              <a:t>= </a:t>
            </a:r>
            <a:r>
              <a:rPr lang="en-IN" sz="1600" b="1" dirty="0" err="1"/>
              <a:t>ECCostInBT_BA</a:t>
            </a:r>
            <a:r>
              <a:rPr lang="en-IN" sz="1600" b="1" dirty="0"/>
              <a:t>(</a:t>
            </a:r>
            <a:r>
              <a:rPr lang="en-IN" sz="1600" b="1" dirty="0" err="1"/>
              <a:t>ec,bt,ba</a:t>
            </a:r>
            <a:r>
              <a:rPr lang="en-IN" sz="1600" dirty="0"/>
              <a:t>) + </a:t>
            </a:r>
            <a:r>
              <a:rPr lang="en-IN" sz="1600" b="1" dirty="0" err="1"/>
              <a:t>ECTransitCost</a:t>
            </a:r>
            <a:r>
              <a:rPr lang="en-IN" sz="1600" b="1" dirty="0"/>
              <a:t>(</a:t>
            </a:r>
            <a:r>
              <a:rPr lang="en-IN" sz="1600" b="1" dirty="0" err="1"/>
              <a:t>ec,bt,ba</a:t>
            </a:r>
            <a:r>
              <a:rPr lang="en-IN" sz="1600" b="1" dirty="0"/>
              <a:t>) </a:t>
            </a:r>
            <a:r>
              <a:rPr lang="en-IN" sz="1600" dirty="0"/>
              <a:t>+ </a:t>
            </a:r>
            <a:br>
              <a:rPr lang="en-IN" sz="1600" dirty="0"/>
            </a:br>
            <a:r>
              <a:rPr lang="en-IN" sz="1600" b="1" dirty="0" err="1"/>
              <a:t>CostOfUnmetDemand</a:t>
            </a:r>
            <a:r>
              <a:rPr lang="en-IN" sz="1600" b="1" dirty="0"/>
              <a:t> (</a:t>
            </a:r>
            <a:r>
              <a:rPr lang="en-IN" sz="1600" b="1" dirty="0" err="1"/>
              <a:t>ec,bt,ba</a:t>
            </a:r>
            <a:r>
              <a:rPr lang="en-IN" sz="1600" b="1" dirty="0"/>
              <a:t>)</a:t>
            </a:r>
            <a:r>
              <a:rPr lang="en-IN" sz="1600" dirty="0"/>
              <a:t>, where </a:t>
            </a:r>
            <a:r>
              <a:rPr lang="en-IN" sz="1600" dirty="0" err="1"/>
              <a:t>CostOfUnmetDemand</a:t>
            </a:r>
            <a:r>
              <a:rPr lang="en-IN" sz="1600" dirty="0"/>
              <a:t> is not a separate output but can be computed from the output UnmetDemand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7631720-416D-2296-A932-EC3998A9B657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7586663" y="3438531"/>
            <a:ext cx="0" cy="18097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2D713A8-7E56-7674-01AB-ABA348FA1A90}"/>
              </a:ext>
            </a:extLst>
          </p:cNvPr>
          <p:cNvSpPr/>
          <p:nvPr/>
        </p:nvSpPr>
        <p:spPr>
          <a:xfrm>
            <a:off x="9505950" y="4572021"/>
            <a:ext cx="2533650" cy="1314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ECTransitCost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(</a:t>
            </a:r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ec,bt,ba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 </a:t>
            </a:r>
            <a:r>
              <a:rPr lang="en-IN" sz="1600" dirty="0"/>
              <a:t>= </a:t>
            </a:r>
            <a:r>
              <a:rPr lang="en-US" sz="1600" dirty="0"/>
              <a:t>The cost of transferring </a:t>
            </a:r>
            <a:r>
              <a:rPr lang="en-US" sz="1600" dirty="0" err="1"/>
              <a:t>ec</a:t>
            </a:r>
            <a:r>
              <a:rPr lang="en-US" sz="1600" dirty="0"/>
              <a:t> to </a:t>
            </a:r>
            <a:r>
              <a:rPr lang="en-US" sz="1600" dirty="0" err="1"/>
              <a:t>ba</a:t>
            </a:r>
            <a:r>
              <a:rPr lang="en-US" sz="1600" dirty="0"/>
              <a:t> from any geography </a:t>
            </a:r>
            <a:r>
              <a:rPr lang="en-US" sz="1600" dirty="0" err="1"/>
              <a:t>ba</a:t>
            </a:r>
            <a:r>
              <a:rPr lang="en-US" sz="1600" dirty="0"/>
              <a:t>’ (including </a:t>
            </a:r>
            <a:r>
              <a:rPr lang="en-US" sz="1600" dirty="0" err="1"/>
              <a:t>ba</a:t>
            </a:r>
            <a:r>
              <a:rPr lang="en-US" sz="1600" dirty="0"/>
              <a:t> itself) in </a:t>
            </a:r>
            <a:r>
              <a:rPr lang="en-US" sz="1600" dirty="0" err="1"/>
              <a:t>bt</a:t>
            </a:r>
            <a:endParaRPr lang="en-IN" sz="1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2C51BA-E8A0-5EDB-1E55-56786D7C43B8}"/>
              </a:ext>
            </a:extLst>
          </p:cNvPr>
          <p:cNvSpPr/>
          <p:nvPr/>
        </p:nvSpPr>
        <p:spPr>
          <a:xfrm>
            <a:off x="3133725" y="4572021"/>
            <a:ext cx="6286500" cy="12858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ECCostInBT_BA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ec,bt,ba</a:t>
            </a:r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 </a:t>
            </a:r>
            <a:r>
              <a:rPr lang="en-IN" sz="1600" dirty="0"/>
              <a:t>= </a:t>
            </a:r>
            <a:r>
              <a:rPr lang="en-IN" sz="1600" b="1" dirty="0" err="1"/>
              <a:t>DomECCostInBT_BA</a:t>
            </a:r>
            <a:r>
              <a:rPr lang="en-IN" sz="1600" b="1" dirty="0"/>
              <a:t>(</a:t>
            </a:r>
            <a:r>
              <a:rPr lang="en-IN" sz="1600" b="1" dirty="0" err="1"/>
              <a:t>ec,bt,ba</a:t>
            </a:r>
            <a:r>
              <a:rPr lang="en-IN" sz="1600" b="1" dirty="0"/>
              <a:t>) </a:t>
            </a:r>
            <a:r>
              <a:rPr lang="en-IN" sz="1600" dirty="0"/>
              <a:t>+ </a:t>
            </a:r>
            <a:r>
              <a:rPr lang="en-IN" sz="1600" b="1" dirty="0" err="1"/>
              <a:t>ImpECCostInBT_BA</a:t>
            </a:r>
            <a:r>
              <a:rPr lang="en-IN" sz="1600" b="1" dirty="0"/>
              <a:t>(</a:t>
            </a:r>
            <a:r>
              <a:rPr lang="en-IN" sz="1600" b="1" dirty="0" err="1"/>
              <a:t>ec,bt,ba</a:t>
            </a:r>
            <a:r>
              <a:rPr lang="en-IN" sz="1600" b="1" dirty="0"/>
              <a:t>) </a:t>
            </a:r>
            <a:r>
              <a:rPr lang="en-IN" sz="1600" dirty="0"/>
              <a:t>where </a:t>
            </a:r>
            <a:r>
              <a:rPr lang="en-IN" sz="1600" dirty="0" err="1"/>
              <a:t>ImpECCostInBT_BA</a:t>
            </a:r>
            <a:r>
              <a:rPr lang="en-IN" sz="1600" dirty="0"/>
              <a:t>(</a:t>
            </a:r>
            <a:r>
              <a:rPr lang="en-IN" sz="1600" dirty="0" err="1"/>
              <a:t>ec,bt,ba</a:t>
            </a:r>
            <a:r>
              <a:rPr lang="en-IN" sz="1600" dirty="0"/>
              <a:t>) is the </a:t>
            </a:r>
            <a:r>
              <a:rPr lang="en-US" sz="1600" dirty="0"/>
              <a:t>cost of the imported </a:t>
            </a:r>
            <a:r>
              <a:rPr lang="en-US" sz="1600" dirty="0" err="1"/>
              <a:t>ec</a:t>
            </a:r>
            <a:r>
              <a:rPr lang="en-US" sz="1600" dirty="0"/>
              <a:t> including taxes etc., for both primary and derived carriers, where the quantity of </a:t>
            </a:r>
            <a:r>
              <a:rPr lang="en-US" sz="1600" dirty="0" err="1"/>
              <a:t>ec</a:t>
            </a:r>
            <a:r>
              <a:rPr lang="en-US" sz="1600" dirty="0"/>
              <a:t> is again that imported for any purpose (end-use, input to </a:t>
            </a:r>
            <a:r>
              <a:rPr lang="en-US" sz="1600" dirty="0" err="1"/>
              <a:t>ect</a:t>
            </a:r>
            <a:r>
              <a:rPr lang="en-US" sz="1600" dirty="0"/>
              <a:t> or for storage)</a:t>
            </a:r>
            <a:endParaRPr lang="en-IN" sz="16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DDB4416-4AB6-443D-63C9-6696F8221C90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10772775" y="4410070"/>
            <a:ext cx="0" cy="1619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D19D559-1B77-EA54-579D-413391258455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6276975" y="4410070"/>
            <a:ext cx="0" cy="1619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1001927-BBAC-5492-7C4E-B0CFA9A559E5}"/>
              </a:ext>
            </a:extLst>
          </p:cNvPr>
          <p:cNvSpPr/>
          <p:nvPr/>
        </p:nvSpPr>
        <p:spPr>
          <a:xfrm>
            <a:off x="152400" y="5991234"/>
            <a:ext cx="11887200" cy="819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400" b="1" dirty="0" err="1"/>
              <a:t>DomECCostInBT_BA</a:t>
            </a:r>
            <a:r>
              <a:rPr lang="en-IN" sz="1400" b="1" dirty="0"/>
              <a:t>(</a:t>
            </a:r>
            <a:r>
              <a:rPr lang="en-IN" sz="1400" b="1" dirty="0" err="1"/>
              <a:t>ec,bt,ba</a:t>
            </a:r>
            <a:r>
              <a:rPr lang="en-IN" sz="1400" b="1" dirty="0"/>
              <a:t>) </a:t>
            </a:r>
            <a:r>
              <a:rPr lang="en-IN" sz="1400" dirty="0"/>
              <a:t>=  </a:t>
            </a:r>
            <a:r>
              <a:rPr lang="en-IN" sz="1400" i="1" dirty="0"/>
              <a:t>The quantity of </a:t>
            </a:r>
            <a:r>
              <a:rPr lang="en-IN" sz="1400" i="1" dirty="0" err="1"/>
              <a:t>ec</a:t>
            </a:r>
            <a:r>
              <a:rPr lang="en-IN" sz="1400" i="1" dirty="0"/>
              <a:t> considered here is the </a:t>
            </a:r>
            <a:r>
              <a:rPr lang="en-IN" sz="1400" i="1" dirty="0" err="1"/>
              <a:t>ec</a:t>
            </a:r>
            <a:r>
              <a:rPr lang="en-IN" sz="1400" i="1" dirty="0"/>
              <a:t> produced domestically for any purpose – to meet end-use demand, as input to some </a:t>
            </a:r>
            <a:r>
              <a:rPr lang="en-IN" sz="1400" i="1" dirty="0" err="1"/>
              <a:t>ect</a:t>
            </a:r>
            <a:r>
              <a:rPr lang="en-IN" sz="1400" i="1" dirty="0"/>
              <a:t>, or to be stored in some storage.  If </a:t>
            </a:r>
            <a:r>
              <a:rPr lang="en-IN" sz="1400" i="1" dirty="0" err="1"/>
              <a:t>ec</a:t>
            </a:r>
            <a:r>
              <a:rPr lang="en-IN" sz="1400" i="1" dirty="0"/>
              <a:t> is a primary energy carrier, it is the cost of the </a:t>
            </a:r>
            <a:r>
              <a:rPr lang="en-IN" sz="1400" i="1" dirty="0" err="1"/>
              <a:t>ec</a:t>
            </a:r>
            <a:r>
              <a:rPr lang="en-IN" sz="1400" i="1" dirty="0"/>
              <a:t> domestically produced in </a:t>
            </a:r>
            <a:r>
              <a:rPr lang="en-IN" sz="1400" i="1" dirty="0" err="1"/>
              <a:t>ba-bt</a:t>
            </a:r>
            <a:r>
              <a:rPr lang="en-IN" sz="1400" i="1" dirty="0"/>
              <a:t> including taxes etc. If </a:t>
            </a:r>
            <a:r>
              <a:rPr lang="en-IN" sz="1400" i="1" dirty="0" err="1"/>
              <a:t>ec</a:t>
            </a:r>
            <a:r>
              <a:rPr lang="en-IN" sz="1400" i="1" dirty="0"/>
              <a:t> is a derived energy carrier, the only cost is the fixed tax overheads of producing the </a:t>
            </a:r>
            <a:r>
              <a:rPr lang="en-IN" sz="1400" i="1" dirty="0" err="1"/>
              <a:t>ec</a:t>
            </a:r>
            <a:r>
              <a:rPr lang="en-IN" sz="1400" i="1" dirty="0"/>
              <a:t>, because the other costs are considered elsewhere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C0336CB-8B0D-62BB-2AD7-188D32B87068}"/>
              </a:ext>
            </a:extLst>
          </p:cNvPr>
          <p:cNvCxnSpPr>
            <a:cxnSpLocks/>
            <a:stCxn id="112" idx="0"/>
          </p:cNvCxnSpPr>
          <p:nvPr/>
        </p:nvCxnSpPr>
        <p:spPr>
          <a:xfrm flipV="1">
            <a:off x="6096000" y="5857883"/>
            <a:ext cx="0" cy="1333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FE35BCE3-9FE7-29B0-50BF-E5543948E920}"/>
              </a:ext>
            </a:extLst>
          </p:cNvPr>
          <p:cNvSpPr/>
          <p:nvPr/>
        </p:nvSpPr>
        <p:spPr>
          <a:xfrm>
            <a:off x="66675" y="285750"/>
            <a:ext cx="333375" cy="39052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9C2EF02-C4B3-AACD-8CCF-508157DB0F11}"/>
              </a:ext>
            </a:extLst>
          </p:cNvPr>
          <p:cNvCxnSpPr>
            <a:cxnSpLocks/>
          </p:cNvCxnSpPr>
          <p:nvPr/>
        </p:nvCxnSpPr>
        <p:spPr>
          <a:xfrm flipV="1">
            <a:off x="6276975" y="4438645"/>
            <a:ext cx="0" cy="16195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D5FE4DEA-C23D-335D-A080-C053DA938179}"/>
              </a:ext>
            </a:extLst>
          </p:cNvPr>
          <p:cNvSpPr/>
          <p:nvPr/>
        </p:nvSpPr>
        <p:spPr>
          <a:xfrm>
            <a:off x="52387" y="1366841"/>
            <a:ext cx="333375" cy="39052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168AFDB9-4C07-BBD0-A585-CFA43A10E790}"/>
              </a:ext>
            </a:extLst>
          </p:cNvPr>
          <p:cNvSpPr/>
          <p:nvPr/>
        </p:nvSpPr>
        <p:spPr>
          <a:xfrm>
            <a:off x="52386" y="2857499"/>
            <a:ext cx="333375" cy="39052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B0864B1-0875-05D5-DEB1-6B2A90AA5DD6}"/>
              </a:ext>
            </a:extLst>
          </p:cNvPr>
          <p:cNvSpPr/>
          <p:nvPr/>
        </p:nvSpPr>
        <p:spPr>
          <a:xfrm>
            <a:off x="28575" y="5719766"/>
            <a:ext cx="333375" cy="39052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61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60CE9E-B83B-AF86-3094-240F64485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874" y="121428"/>
            <a:ext cx="11592250" cy="661514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BEE365-114D-1605-AD41-AEAD20D5E86A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324225" y="2783428"/>
            <a:ext cx="2895599" cy="3101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0F92CFC-9138-D8E9-9C47-01A108B75F7A}"/>
              </a:ext>
            </a:extLst>
          </p:cNvPr>
          <p:cNvSpPr/>
          <p:nvPr/>
        </p:nvSpPr>
        <p:spPr>
          <a:xfrm>
            <a:off x="6219824" y="2619375"/>
            <a:ext cx="1533525" cy="3281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~4.48 </a:t>
            </a:r>
            <a:r>
              <a:rPr lang="en-US" dirty="0" err="1"/>
              <a:t>mmRs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FAA6C-B4DE-9C6C-38C7-B48DFE08C6E6}"/>
              </a:ext>
            </a:extLst>
          </p:cNvPr>
          <p:cNvSpPr/>
          <p:nvPr/>
        </p:nvSpPr>
        <p:spPr>
          <a:xfrm>
            <a:off x="6219824" y="3209096"/>
            <a:ext cx="1533525" cy="3281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~4.5 </a:t>
            </a:r>
            <a:r>
              <a:rPr lang="en-US" dirty="0" err="1"/>
              <a:t>mmRs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30CCE8-6ECD-6971-46E9-77BD590E5922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5838825" y="3537202"/>
            <a:ext cx="1147762" cy="234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BD6FD8-EB28-19A3-0C0D-63374DA109AB}"/>
              </a:ext>
            </a:extLst>
          </p:cNvPr>
          <p:cNvSpPr txBox="1"/>
          <p:nvPr/>
        </p:nvSpPr>
        <p:spPr>
          <a:xfrm>
            <a:off x="137652" y="121428"/>
            <a:ext cx="60821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PIER2.0+Rumi costs – Electricity only, no electrolysis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532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527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C. Pascale</dc:creator>
  <cp:lastModifiedBy>Andrew C. Pascale</cp:lastModifiedBy>
  <cp:revision>16</cp:revision>
  <dcterms:created xsi:type="dcterms:W3CDTF">2026-04-01T00:16:44Z</dcterms:created>
  <dcterms:modified xsi:type="dcterms:W3CDTF">2026-05-05T05:35:28Z</dcterms:modified>
</cp:coreProperties>
</file>